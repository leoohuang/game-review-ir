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my part, Member C. My goal was not to build another classifier, but to evaluate whether the aspect labels from Member B actually help retrieval. I compare the original BM25 ranking with an aspect-aware reranking over 35 queries, 6 games, and 2100 retrieved reviews.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evaluation design, I kept the retrieval candidates the same. BM25 gives us the original top-10 reviews. Member B gives aspect labels for each review. Then I define relevance in a binary way: if the target query aspect is inside the predicted aspects, relevance is 1; otherwise it is 0. The reranking rule is simple: aspect match first, then BM25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metric is nDCG at 10. This is useful because we do not only care whether relevant reviews exist, but whether they appear near the top. I compute it for each query-game group, then average across 210 groups. I also use a paired permutation test, because both systems are evaluated on the same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result is that aspect-aware reranking improves nDCG from 0.8756 to 0.9810. The mean improvement is about 0.1053, and the paired permutation test gives p equals 0.0001. So the improvement is not just one or two lucky cases; it is consistent across the evaluation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by aspect, the improvement appears in every category. The biggest gains are for price and controls. Some aspects reach a mean nDCG of 1 after reranking in this setup. My interpretation is that aspect labels add useful context when keyword matching alone is too broad.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conclusion is that the aspect-aware version gives better context to the retrieval system. The important caveat is that this is not a full human relevance judgment study. The relevance signal is based on predicted aspects. But since Member B validated the classifier on 230 gold reviews, we can still use it as a reasonable aspect-consistency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76656"/>
            <a:ext cx="1627632" cy="347472"/>
          </a:xfrm>
          <a:prstGeom prst="roundRect">
            <a:avLst>
              <a:gd name="adj" fmla="val 21053"/>
            </a:avLst>
          </a:prstGeom>
          <a:solidFill>
            <a:srgbClr val="0E7490">
              <a:alpha val="12000"/>
            </a:srgbClr>
          </a:solidFill>
          <a:ln w="10160">
            <a:solidFill>
              <a:srgbClr val="0E7490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68096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490"/>
                </a:solidFill>
              </a:rPr>
              <a:t>IR evaluation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423160" y="676656"/>
            <a:ext cx="1627632" cy="347472"/>
          </a:xfrm>
          <a:prstGeom prst="roundRect">
            <a:avLst>
              <a:gd name="adj" fmla="val 21053"/>
            </a:avLst>
          </a:prstGeom>
          <a:solidFill>
            <a:srgbClr val="2563EB">
              <a:alpha val="12000"/>
            </a:srgbClr>
          </a:solidFill>
          <a:ln w="1016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96312" y="768096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nDCG@10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1234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Member 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572768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Evaluating Aspect-Aware Retrieval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94944" y="2377440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77A"/>
                </a:solidFill>
              </a:rPr>
              <a:t>Goal: test whether LLM-predicted aspect labels improve retrieval ranking beyond the original BM25 baseline.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94944" y="3703320"/>
            <a:ext cx="2240280" cy="1207008"/>
          </a:xfrm>
          <a:prstGeom prst="roundRect">
            <a:avLst>
              <a:gd name="adj" fmla="val 4545"/>
            </a:avLst>
          </a:prstGeom>
          <a:solidFill>
            <a:srgbClr val="F8FBFD"/>
          </a:solidFill>
          <a:ln w="11430">
            <a:solidFill>
              <a:srgbClr val="D6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858768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77A"/>
                </a:solidFill>
              </a:rPr>
              <a:t>Queries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59536" y="4114800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59536" y="4599432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77A"/>
                </a:solidFill>
              </a:rPr>
              <a:t>aspect-focused search intents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46120" y="3703320"/>
            <a:ext cx="2240280" cy="1207008"/>
          </a:xfrm>
          <a:prstGeom prst="roundRect">
            <a:avLst>
              <a:gd name="adj" fmla="val 4545"/>
            </a:avLst>
          </a:prstGeom>
          <a:solidFill>
            <a:srgbClr val="F8FBFD"/>
          </a:solidFill>
          <a:ln w="11430">
            <a:solidFill>
              <a:srgbClr val="D6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3858768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77A"/>
                </a:solidFill>
              </a:rPr>
              <a:t>Games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10712" y="4114800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749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3410712" y="4599432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77A"/>
                </a:solidFill>
              </a:rPr>
              <a:t>query-game evaluation groups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797296" y="3703320"/>
            <a:ext cx="2468880" cy="1207008"/>
          </a:xfrm>
          <a:prstGeom prst="roundRect">
            <a:avLst>
              <a:gd name="adj" fmla="val 4545"/>
            </a:avLst>
          </a:prstGeom>
          <a:solidFill>
            <a:srgbClr val="F8FBFD"/>
          </a:solidFill>
          <a:ln w="11430">
            <a:solidFill>
              <a:srgbClr val="D6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61888" y="385876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77A"/>
                </a:solidFill>
              </a:rPr>
              <a:t>Retrieved rows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61888" y="4114800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2100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5961888" y="4599432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77A"/>
                </a:solidFill>
              </a:rPr>
              <a:t>top-10 reviews per pair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686800" y="1188720"/>
            <a:ext cx="2606040" cy="41148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42832" y="15179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</a:rPr>
              <a:t>Pipeline position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61120" y="1938528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52677A">
              <a:alpha val="10000"/>
            </a:srgbClr>
          </a:solidFill>
          <a:ln w="12700">
            <a:solidFill>
              <a:srgbClr val="52677A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07424" y="2084832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77A"/>
                </a:solidFill>
              </a:rPr>
              <a:t>A: BM25 retrieval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07424" y="235000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77A"/>
                </a:solidFill>
              </a:rPr>
              <a:t>top-10 reviews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10003536" y="2779776"/>
            <a:ext cx="0" cy="283464"/>
          </a:xfrm>
          <a:prstGeom prst="line">
            <a:avLst/>
          </a:prstGeom>
          <a:noFill/>
          <a:ln w="17780">
            <a:solidFill>
              <a:srgbClr val="D6E3E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961120" y="3072384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07424" y="3218688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B: aspect labels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107424" y="3483864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77A"/>
                </a:solidFill>
              </a:rPr>
              <a:t>LLM predictions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10003536" y="3913632"/>
            <a:ext cx="0" cy="283464"/>
          </a:xfrm>
          <a:prstGeom prst="line">
            <a:avLst/>
          </a:prstGeom>
          <a:noFill/>
          <a:ln w="17780">
            <a:solidFill>
              <a:srgbClr val="D6E3EC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961120" y="4206240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0F766E">
              <a:alpha val="10000"/>
            </a:srgbClr>
          </a:solidFill>
          <a:ln w="12700">
            <a:solidFill>
              <a:srgbClr val="0F766E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07424" y="4352544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C: evaluation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107424" y="4617720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77A"/>
                </a:solidFill>
              </a:rPr>
              <a:t>BM25 vs rerank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1899A"/>
                </a:solidFill>
              </a:rPr>
              <a:t>Member C Evaluation | 1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77A"/>
                </a:solidFill>
              </a:rPr>
              <a:t>The experiment keeps the same retrieved reviews, then changes how they are ranked.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6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00200"/>
            <a:ext cx="2926080" cy="841248"/>
          </a:xfrm>
          <a:prstGeom prst="roundRect">
            <a:avLst>
              <a:gd name="adj" fmla="val 6522"/>
            </a:avLst>
          </a:prstGeom>
          <a:solidFill>
            <a:srgbClr val="52677A">
              <a:alpha val="10000"/>
            </a:srgbClr>
          </a:solidFill>
          <a:ln w="12700">
            <a:solidFill>
              <a:srgbClr val="52677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74650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77A"/>
                </a:solidFill>
              </a:rPr>
              <a:t>Input 1: BM25 ranking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59536" y="201168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77A"/>
                </a:solidFill>
              </a:rPr>
              <a:t>Member A retrieved top-10 reviews for every query-game pair.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3749040" y="2011680"/>
            <a:ext cx="594360" cy="0"/>
          </a:xfrm>
          <a:prstGeom prst="line">
            <a:avLst/>
          </a:prstGeom>
          <a:noFill/>
          <a:ln w="17780">
            <a:solidFill>
              <a:srgbClr val="D6E3E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80560" y="1600200"/>
            <a:ext cx="2926080" cy="841248"/>
          </a:xfrm>
          <a:prstGeom prst="roundRect">
            <a:avLst>
              <a:gd name="adj" fmla="val 6522"/>
            </a:avLst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174650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Input 2: predicted aspects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26864" y="201168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77A"/>
                </a:solidFill>
              </a:rPr>
              <a:t>Member B classified each retrieved review with LLM aspect labels.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7516368" y="2011680"/>
            <a:ext cx="594360" cy="0"/>
          </a:xfrm>
          <a:prstGeom prst="line">
            <a:avLst/>
          </a:prstGeom>
          <a:noFill/>
          <a:ln w="17780">
            <a:solidFill>
              <a:srgbClr val="D6E3E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47888" y="1600200"/>
            <a:ext cx="2926080" cy="841248"/>
          </a:xfrm>
          <a:prstGeom prst="roundRect">
            <a:avLst>
              <a:gd name="adj" fmla="val 6522"/>
            </a:avLst>
          </a:prstGeom>
          <a:solidFill>
            <a:srgbClr val="0F766E">
              <a:alpha val="10000"/>
            </a:srgbClr>
          </a:solidFill>
          <a:ln w="12700">
            <a:solidFill>
              <a:srgbClr val="0F766E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174650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Member C evaluation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94192" y="201168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77A"/>
                </a:solidFill>
              </a:rPr>
              <a:t>Compare BM25 against aspect-aware reranking.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4983480" cy="1737360"/>
          </a:xfrm>
          <a:prstGeom prst="roundRect">
            <a:avLst>
              <a:gd name="adj" fmla="val 3158"/>
            </a:avLst>
          </a:prstGeom>
          <a:solidFill>
            <a:srgbClr val="F8FBFD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54787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Binary aspect relevance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391363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2677A"/>
                </a:solidFill>
              </a:rPr>
              <a:t>A retrieved review is relevant if the query aspect appears in the review's predicted aspects.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987552" y="44439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E749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query aspect in predicted_aspects  -&gt;  1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E749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otherwise  -&gt;  0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400800" y="3246120"/>
            <a:ext cx="4572000" cy="1737360"/>
          </a:xfrm>
          <a:prstGeom prst="roundRect">
            <a:avLst>
              <a:gd name="adj" fmla="val 3158"/>
            </a:avLst>
          </a:prstGeom>
          <a:solidFill>
            <a:srgbClr val="F9FB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3547872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Aspect-aware reranking rule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93408" y="39319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00" dirty="0">
                <a:solidFill>
                  <a:srgbClr val="14213D"/>
                </a:solidFill>
              </a:rPr>
              <a:t>Promote reviews whose predicted aspects match the query aspect</a:t>
            </a:r>
            <a:endParaRPr lang="en-US" sz="1300" dirty="0"/>
          </a:p>
          <a:p>
            <a:r>
              <a:rPr lang="en-US" sz="1300" dirty="0">
                <a:solidFill>
                  <a:srgbClr val="14213D"/>
                </a:solidFill>
              </a:rPr>
              <a:t>Use BM25 score as the second sorting signal</a:t>
            </a:r>
            <a:endParaRPr lang="en-US" sz="1300" dirty="0"/>
          </a:p>
          <a:p>
            <a:r>
              <a:rPr lang="en-US" sz="1300" dirty="0">
                <a:solidFill>
                  <a:srgbClr val="14213D"/>
                </a:solidFill>
              </a:rPr>
              <a:t>Evaluate the new top-10 order with nDCG@10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1899A"/>
                </a:solidFill>
              </a:rPr>
              <a:t>Member C Evaluation | 2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 and Statistical Test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77A"/>
                </a:solidFill>
              </a:rPr>
              <a:t>The metric measures whether aspect-relevant reviews appear closer to the top.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6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489204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nDCG@10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77A"/>
                </a:solidFill>
              </a:rPr>
              <a:t>Higher score means relevant reviews are ranked earlier.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DCG@10 / ideal DCG@10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367588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00" dirty="0">
                <a:solidFill>
                  <a:srgbClr val="14213D"/>
                </a:solidFill>
              </a:rPr>
              <a:t>Calculated separately for each query-game group</a:t>
            </a:r>
            <a:endParaRPr lang="en-US" sz="1300" dirty="0"/>
          </a:p>
          <a:p>
            <a:r>
              <a:rPr lang="en-US" sz="1300" dirty="0">
                <a:solidFill>
                  <a:srgbClr val="14213D"/>
                </a:solidFill>
              </a:rPr>
              <a:t>Uses the top-10 ranking from each system</a:t>
            </a:r>
            <a:endParaRPr lang="en-US" sz="1300" dirty="0"/>
          </a:p>
          <a:p>
            <a:r>
              <a:rPr lang="en-US" sz="1300" dirty="0">
                <a:solidFill>
                  <a:srgbClr val="14213D"/>
                </a:solidFill>
              </a:rPr>
              <a:t>Averaged across 210 groups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508760"/>
            <a:ext cx="489204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8745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Paired permutation test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675120" y="23317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2677A"/>
                </a:solidFill>
              </a:rPr>
              <a:t>Checks whether the improvement is consistent across the same query-game groups.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675120" y="3246120"/>
            <a:ext cx="1920240" cy="1207008"/>
          </a:xfrm>
          <a:prstGeom prst="roundRect">
            <a:avLst>
              <a:gd name="adj" fmla="val 4545"/>
            </a:avLst>
          </a:prstGeom>
          <a:solidFill>
            <a:srgbClr val="F8FBFD"/>
          </a:solidFill>
          <a:ln w="11430">
            <a:solidFill>
              <a:srgbClr val="D6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9712" y="3401568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77A"/>
                </a:solidFill>
              </a:rPr>
              <a:t>Evaluation groups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839712" y="3657600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749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210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839712" y="414223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77A"/>
                </a:solidFill>
              </a:rPr>
              <a:t>35 queries x 6 games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915400" y="3246120"/>
            <a:ext cx="1920240" cy="1207008"/>
          </a:xfrm>
          <a:prstGeom prst="roundRect">
            <a:avLst>
              <a:gd name="adj" fmla="val 4545"/>
            </a:avLst>
          </a:prstGeom>
          <a:solidFill>
            <a:srgbClr val="F8FBFD"/>
          </a:solidFill>
          <a:ln w="11430">
            <a:solidFill>
              <a:srgbClr val="D6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9992" y="3401568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77A"/>
                </a:solidFill>
              </a:rPr>
              <a:t>Ranking depth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079992" y="3657600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9079992" y="414223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77A"/>
                </a:solidFill>
              </a:rPr>
              <a:t>top retrieved reviews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1899A"/>
                </a:solidFill>
              </a:rPr>
              <a:t>Member C Evaluation | 3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Result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77A"/>
                </a:solidFill>
              </a:rPr>
              <a:t>Aspect-aware reranking substantially improves aspect-level nDCG@10.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6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08760"/>
            <a:ext cx="2514600" cy="1207008"/>
          </a:xfrm>
          <a:prstGeom prst="roundRect">
            <a:avLst>
              <a:gd name="adj" fmla="val 4545"/>
            </a:avLst>
          </a:prstGeom>
          <a:solidFill>
            <a:srgbClr val="F8FBFD"/>
          </a:solidFill>
          <a:ln w="11430">
            <a:solidFill>
              <a:srgbClr val="D6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64208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77A"/>
                </a:solidFill>
              </a:rPr>
              <a:t>BM25 baseline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267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0.8756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14400" y="2404872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77A"/>
                </a:solidFill>
              </a:rPr>
              <a:t>mean aspect nDCG@10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520440" y="1508760"/>
            <a:ext cx="2743200" cy="1207008"/>
          </a:xfrm>
          <a:prstGeom prst="roundRect">
            <a:avLst>
              <a:gd name="adj" fmla="val 4545"/>
            </a:avLst>
          </a:prstGeom>
          <a:solidFill>
            <a:srgbClr val="F8FBFD"/>
          </a:solidFill>
          <a:ln w="11430">
            <a:solidFill>
              <a:srgbClr val="D6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1664208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77A"/>
                </a:solidFill>
              </a:rPr>
              <a:t>Aspect-aware rerank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85032" y="1920240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0.9810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685032" y="240487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77A"/>
                </a:solidFill>
              </a:rPr>
              <a:t>mean aspect nDCG@10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537960" y="1508760"/>
            <a:ext cx="2423160" cy="1207008"/>
          </a:xfrm>
          <a:prstGeom prst="roundRect">
            <a:avLst>
              <a:gd name="adj" fmla="val 4545"/>
            </a:avLst>
          </a:prstGeom>
          <a:solidFill>
            <a:srgbClr val="F8FBFD"/>
          </a:solidFill>
          <a:ln w="11430">
            <a:solidFill>
              <a:srgbClr val="D6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02552" y="1664208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77A"/>
                </a:solidFill>
              </a:rPr>
              <a:t>Mean delta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702552" y="1920240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+0.1053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702552" y="2404872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77A"/>
                </a:solidFill>
              </a:rPr>
              <a:t>paired over 210 groups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235440" y="1508760"/>
            <a:ext cx="2148840" cy="1207008"/>
          </a:xfrm>
          <a:prstGeom prst="roundRect">
            <a:avLst>
              <a:gd name="adj" fmla="val 4545"/>
            </a:avLst>
          </a:prstGeom>
          <a:solidFill>
            <a:srgbClr val="F8FBFD"/>
          </a:solidFill>
          <a:ln w="11430">
            <a:solidFill>
              <a:srgbClr val="D6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0032" y="166420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77A"/>
                </a:solidFill>
              </a:rPr>
              <a:t>p-value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400032" y="1920240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E12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0.0001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9400032" y="240487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77A"/>
                </a:solidFill>
              </a:rPr>
              <a:t>paired permutation test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86384" y="3337560"/>
            <a:ext cx="10469880" cy="2011680"/>
          </a:xfrm>
          <a:prstGeom prst="roundRect">
            <a:avLst>
              <a:gd name="adj" fmla="val 2727"/>
            </a:avLst>
          </a:prstGeom>
          <a:solidFill>
            <a:srgbClr val="F8FBFD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" y="400507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4213D"/>
                </a:solidFill>
              </a:rPr>
              <a:t>BM25 baseline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182112" y="3986784"/>
            <a:ext cx="6263640" cy="201168"/>
          </a:xfrm>
          <a:prstGeom prst="rect">
            <a:avLst/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82112" y="3986784"/>
            <a:ext cx="5484443" cy="201168"/>
          </a:xfrm>
          <a:prstGeom prst="rect">
            <a:avLst/>
          </a:prstGeom>
          <a:solidFill>
            <a:srgbClr val="687A8A"/>
          </a:solidFill>
          <a:ln w="12700">
            <a:solidFill>
              <a:srgbClr val="687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37192" y="397764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687A8A"/>
                </a:solidFill>
              </a:rPr>
              <a:t>0.8756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1170432" y="451713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4213D"/>
                </a:solidFill>
              </a:rPr>
              <a:t>Aspect-aware rerank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182112" y="4498848"/>
            <a:ext cx="6263640" cy="201168"/>
          </a:xfrm>
          <a:prstGeom prst="rect">
            <a:avLst/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82112" y="4498848"/>
            <a:ext cx="6144631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37192" y="44897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2563EB"/>
                </a:solidFill>
              </a:rPr>
              <a:t>0.9810</a:t>
            </a:r>
            <a:endParaRPr lang="en-US" sz="770" dirty="0"/>
          </a:p>
        </p:txBody>
      </p:sp>
      <p:sp>
        <p:nvSpPr>
          <p:cNvPr id="30" name="Text 28"/>
          <p:cNvSpPr/>
          <p:nvPr/>
        </p:nvSpPr>
        <p:spPr>
          <a:xfrm>
            <a:off x="9527911" y="448970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</a:rPr>
              <a:t>+0.1053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1024128" y="5596128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4213D"/>
                </a:solidFill>
              </a:rPr>
              <a:t>Interpretation: using aspect labels makes the ranking better aligned with the user's intended aspect, not just keyword similarity.</a:t>
            </a:r>
            <a:endParaRPr lang="en-US" sz="1340" dirty="0"/>
          </a:p>
        </p:txBody>
      </p:sp>
      <p:sp>
        <p:nvSpPr>
          <p:cNvPr id="32" name="Text 30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1899A"/>
                </a:solidFill>
              </a:rPr>
              <a:t>Member C Evaluation | 4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Per-Aspect Pattern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77A"/>
                </a:solidFill>
              </a:rPr>
              <a:t>The reranker improves every evaluated aspect category.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6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640080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373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Mean nDCG@10 by aspect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223113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4213D"/>
                </a:solidFill>
              </a:rPr>
              <a:t>combat / BM25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999232" y="2212848"/>
            <a:ext cx="3108960" cy="201168"/>
          </a:xfrm>
          <a:prstGeom prst="rect">
            <a:avLst/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99232" y="2212848"/>
            <a:ext cx="2594427" cy="201168"/>
          </a:xfrm>
          <a:prstGeom prst="rect">
            <a:avLst/>
          </a:prstGeom>
          <a:solidFill>
            <a:srgbClr val="8795A1"/>
          </a:solidFill>
          <a:ln w="12700">
            <a:solidFill>
              <a:srgbClr val="8795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22037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8795A1"/>
                </a:solidFill>
              </a:rPr>
              <a:t>0.8345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987552" y="274320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4213D"/>
                </a:solidFill>
              </a:rPr>
              <a:t>combat / rerank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999232" y="2724912"/>
            <a:ext cx="3108960" cy="201168"/>
          </a:xfrm>
          <a:prstGeom prst="rect">
            <a:avLst/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99232" y="2724912"/>
            <a:ext cx="288698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27157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2563EB"/>
                </a:solidFill>
              </a:rPr>
              <a:t>0.9286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6087380" y="2715768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</a:rPr>
              <a:t>+0.0940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987552" y="325526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4213D"/>
                </a:solidFill>
              </a:rPr>
              <a:t>controls / BM25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999232" y="3236976"/>
            <a:ext cx="3108960" cy="201168"/>
          </a:xfrm>
          <a:prstGeom prst="rect">
            <a:avLst/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99232" y="3236976"/>
            <a:ext cx="2601267" cy="201168"/>
          </a:xfrm>
          <a:prstGeom prst="rect">
            <a:avLst/>
          </a:prstGeom>
          <a:solidFill>
            <a:srgbClr val="8795A1"/>
          </a:solidFill>
          <a:ln w="12700">
            <a:solidFill>
              <a:srgbClr val="8795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32278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8795A1"/>
                </a:solidFill>
              </a:rPr>
              <a:t>0.8367</a:t>
            </a:r>
            <a:endParaRPr lang="en-US" sz="770" dirty="0"/>
          </a:p>
        </p:txBody>
      </p:sp>
      <p:sp>
        <p:nvSpPr>
          <p:cNvPr id="20" name="Text 18"/>
          <p:cNvSpPr/>
          <p:nvPr/>
        </p:nvSpPr>
        <p:spPr>
          <a:xfrm>
            <a:off x="987552" y="376732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4213D"/>
                </a:solidFill>
              </a:rPr>
              <a:t>controls / rerank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999232" y="3749040"/>
            <a:ext cx="3108960" cy="201168"/>
          </a:xfrm>
          <a:prstGeom prst="rect">
            <a:avLst/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99232" y="3749040"/>
            <a:ext cx="3034967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373989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2563EB"/>
                </a:solidFill>
              </a:rPr>
              <a:t>0.9762</a:t>
            </a:r>
            <a:endParaRPr lang="en-US" sz="770" dirty="0"/>
          </a:p>
        </p:txBody>
      </p:sp>
      <p:sp>
        <p:nvSpPr>
          <p:cNvPr id="24" name="Text 22"/>
          <p:cNvSpPr/>
          <p:nvPr/>
        </p:nvSpPr>
        <p:spPr>
          <a:xfrm>
            <a:off x="6235367" y="3739896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</a:rPr>
              <a:t>+0.1395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987552" y="427939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4213D"/>
                </a:solidFill>
              </a:rPr>
              <a:t>graphics / BM25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2999232" y="4261104"/>
            <a:ext cx="3108960" cy="201168"/>
          </a:xfrm>
          <a:prstGeom prst="rect">
            <a:avLst/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4261104"/>
            <a:ext cx="2910608" cy="201168"/>
          </a:xfrm>
          <a:prstGeom prst="rect">
            <a:avLst/>
          </a:prstGeom>
          <a:solidFill>
            <a:srgbClr val="8795A1"/>
          </a:solidFill>
          <a:ln w="12700">
            <a:solidFill>
              <a:srgbClr val="8795A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9632" y="425196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8795A1"/>
                </a:solidFill>
              </a:rPr>
              <a:t>0.9362</a:t>
            </a:r>
            <a:endParaRPr lang="en-US" sz="770" dirty="0"/>
          </a:p>
        </p:txBody>
      </p:sp>
      <p:sp>
        <p:nvSpPr>
          <p:cNvPr id="29" name="Text 27"/>
          <p:cNvSpPr/>
          <p:nvPr/>
        </p:nvSpPr>
        <p:spPr>
          <a:xfrm>
            <a:off x="987552" y="479145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4213D"/>
                </a:solidFill>
              </a:rPr>
              <a:t>graphics / rerank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999232" y="4773168"/>
            <a:ext cx="3108960" cy="201168"/>
          </a:xfrm>
          <a:prstGeom prst="rect">
            <a:avLst/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9232" y="4773168"/>
            <a:ext cx="310896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476402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2563EB"/>
                </a:solidFill>
              </a:rPr>
              <a:t>1.0000</a:t>
            </a:r>
            <a:endParaRPr lang="en-US" sz="770" dirty="0"/>
          </a:p>
        </p:txBody>
      </p:sp>
      <p:sp>
        <p:nvSpPr>
          <p:cNvPr id="33" name="Text 31"/>
          <p:cNvSpPr/>
          <p:nvPr/>
        </p:nvSpPr>
        <p:spPr>
          <a:xfrm>
            <a:off x="6309360" y="476402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</a:rPr>
              <a:t>+0.0638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987552" y="530352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4213D"/>
                </a:solidFill>
              </a:rPr>
              <a:t>price / BM25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999232" y="5285232"/>
            <a:ext cx="3108960" cy="201168"/>
          </a:xfrm>
          <a:prstGeom prst="rect">
            <a:avLst/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99232" y="5285232"/>
            <a:ext cx="2643238" cy="201168"/>
          </a:xfrm>
          <a:prstGeom prst="rect">
            <a:avLst/>
          </a:prstGeom>
          <a:solidFill>
            <a:srgbClr val="8795A1"/>
          </a:solidFill>
          <a:ln w="12700">
            <a:solidFill>
              <a:srgbClr val="8795A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32" y="527608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8795A1"/>
                </a:solidFill>
              </a:rPr>
              <a:t>0.8502</a:t>
            </a:r>
            <a:endParaRPr lang="en-US" sz="770" dirty="0"/>
          </a:p>
        </p:txBody>
      </p:sp>
      <p:sp>
        <p:nvSpPr>
          <p:cNvPr id="38" name="Text 36"/>
          <p:cNvSpPr/>
          <p:nvPr/>
        </p:nvSpPr>
        <p:spPr>
          <a:xfrm>
            <a:off x="987552" y="58155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4213D"/>
                </a:solidFill>
              </a:rPr>
              <a:t>price / rerank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999232" y="5797296"/>
            <a:ext cx="3108960" cy="201168"/>
          </a:xfrm>
          <a:prstGeom prst="rect">
            <a:avLst/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99232" y="5797296"/>
            <a:ext cx="310896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57881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2563EB"/>
                </a:solidFill>
              </a:rPr>
              <a:t>1.0000</a:t>
            </a:r>
            <a:endParaRPr lang="en-US" sz="770" dirty="0"/>
          </a:p>
        </p:txBody>
      </p:sp>
      <p:sp>
        <p:nvSpPr>
          <p:cNvPr id="42" name="Text 40"/>
          <p:cNvSpPr/>
          <p:nvPr/>
        </p:nvSpPr>
        <p:spPr>
          <a:xfrm>
            <a:off x="6309360" y="5788152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</a:rPr>
              <a:t>+0.1498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987552" y="63276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4213D"/>
                </a:solidFill>
              </a:rPr>
              <a:t>story / BM25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2999232" y="6309360"/>
            <a:ext cx="3108960" cy="201168"/>
          </a:xfrm>
          <a:prstGeom prst="rect">
            <a:avLst/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99232" y="6309360"/>
            <a:ext cx="2861487" cy="201168"/>
          </a:xfrm>
          <a:prstGeom prst="rect">
            <a:avLst/>
          </a:prstGeom>
          <a:solidFill>
            <a:srgbClr val="8795A1"/>
          </a:solidFill>
          <a:ln w="12700">
            <a:solidFill>
              <a:srgbClr val="8795A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9632" y="630021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8795A1"/>
                </a:solidFill>
              </a:rPr>
              <a:t>0.9204</a:t>
            </a:r>
            <a:endParaRPr lang="en-US" sz="770" dirty="0"/>
          </a:p>
        </p:txBody>
      </p:sp>
      <p:sp>
        <p:nvSpPr>
          <p:cNvPr id="47" name="Text 45"/>
          <p:cNvSpPr/>
          <p:nvPr/>
        </p:nvSpPr>
        <p:spPr>
          <a:xfrm>
            <a:off x="987552" y="683971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4213D"/>
                </a:solidFill>
              </a:rPr>
              <a:t>story / rerank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2999232" y="6821424"/>
            <a:ext cx="3108960" cy="201168"/>
          </a:xfrm>
          <a:prstGeom prst="rect">
            <a:avLst/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99232" y="6821424"/>
            <a:ext cx="310896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9632" y="68122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2563EB"/>
                </a:solidFill>
              </a:rPr>
              <a:t>1.0000</a:t>
            </a:r>
            <a:endParaRPr lang="en-US" sz="770" dirty="0"/>
          </a:p>
        </p:txBody>
      </p:sp>
      <p:sp>
        <p:nvSpPr>
          <p:cNvPr id="51" name="Text 49"/>
          <p:cNvSpPr/>
          <p:nvPr/>
        </p:nvSpPr>
        <p:spPr>
          <a:xfrm>
            <a:off x="6309360" y="681228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</a:rPr>
              <a:t>+0.0796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7607808" y="1417320"/>
            <a:ext cx="3611880" cy="443484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09560" y="1755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What this tells us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973568" y="2267712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00" dirty="0">
                <a:solidFill>
                  <a:srgbClr val="14213D"/>
                </a:solidFill>
              </a:rPr>
              <a:t>The gain is not limited to one aspect.</a:t>
            </a:r>
            <a:endParaRPr lang="en-US" sz="1300" dirty="0"/>
          </a:p>
          <a:p>
            <a:r>
              <a:rPr lang="en-US" sz="1300" dirty="0">
                <a:solidFill>
                  <a:srgbClr val="14213D"/>
                </a:solidFill>
              </a:rPr>
              <a:t>Price and controls benefit the most.</a:t>
            </a:r>
            <a:endParaRPr lang="en-US" sz="1300" dirty="0"/>
          </a:p>
          <a:p>
            <a:r>
              <a:rPr lang="en-US" sz="1300" dirty="0">
                <a:solidFill>
                  <a:srgbClr val="14213D"/>
                </a:solidFill>
              </a:rPr>
              <a:t>Graphics, price, and story reach perfect mean nDCG in this setup.</a:t>
            </a:r>
            <a:endParaRPr lang="en-US" sz="1300" dirty="0"/>
          </a:p>
          <a:p>
            <a:r>
              <a:rPr lang="en-US" sz="1300" dirty="0">
                <a:solidFill>
                  <a:srgbClr val="14213D"/>
                </a:solidFill>
              </a:rPr>
              <a:t>The result supports aspect labels as useful IR context.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1899A"/>
                </a:solidFill>
              </a:rPr>
              <a:t>Member C Evaluation | 5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Caveats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77A"/>
                </a:solidFill>
              </a:rPr>
              <a:t>The evaluation supports aspect-aware reranking, while keeping the relevance definition transparent.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6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89888"/>
            <a:ext cx="4937760" cy="4023360"/>
          </a:xfrm>
          <a:prstGeom prst="roundRect">
            <a:avLst>
              <a:gd name="adj" fmla="val 1364"/>
            </a:avLst>
          </a:prstGeom>
          <a:solidFill>
            <a:srgbClr val="F5FBFA"/>
          </a:solidFill>
          <a:ln w="12700">
            <a:solidFill>
              <a:srgbClr val="BFE4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" y="2395728"/>
            <a:ext cx="4069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00" dirty="0">
                <a:solidFill>
                  <a:srgbClr val="14213D"/>
                </a:solidFill>
              </a:rPr>
              <a:t>Aspect-aware reranking improves mean nDCG@10 from 0.8756 to 0.9810.</a:t>
            </a:r>
            <a:endParaRPr lang="en-US" sz="1300" dirty="0"/>
          </a:p>
          <a:p>
            <a:r>
              <a:rPr lang="en-US" sz="1300" dirty="0">
                <a:solidFill>
                  <a:srgbClr val="14213D"/>
                </a:solidFill>
              </a:rPr>
              <a:t>The improvement is statistically significant with p = 0.0001.</a:t>
            </a:r>
            <a:endParaRPr lang="en-US" sz="1300" dirty="0"/>
          </a:p>
          <a:p>
            <a:r>
              <a:rPr lang="en-US" sz="1300" dirty="0">
                <a:solidFill>
                  <a:srgbClr val="14213D"/>
                </a:solidFill>
              </a:rPr>
              <a:t>This shows how LLM aspect labels can act as an IR context signal.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73952" y="1389888"/>
            <a:ext cx="4937760" cy="4023360"/>
          </a:xfrm>
          <a:prstGeom prst="roundRect">
            <a:avLst>
              <a:gd name="adj" fmla="val 1364"/>
            </a:avLst>
          </a:prstGeom>
          <a:solidFill>
            <a:srgbClr val="FFF9F1"/>
          </a:solidFill>
          <a:ln w="12700">
            <a:solidFill>
              <a:srgbClr val="F4D3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Caveats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12280" y="2395728"/>
            <a:ext cx="4069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00" dirty="0">
                <a:solidFill>
                  <a:srgbClr val="14213D"/>
                </a:solidFill>
              </a:rPr>
              <a:t>The relevance signal comes from LLM-predicted aspects, not full human retrieval judgments.</a:t>
            </a:r>
            <a:endParaRPr lang="en-US" sz="1300" dirty="0"/>
          </a:p>
          <a:p>
            <a:r>
              <a:rPr lang="en-US" sz="1300" dirty="0">
                <a:solidFill>
                  <a:srgbClr val="14213D"/>
                </a:solidFill>
              </a:rPr>
              <a:t>Member B validated the classifier on 230 gold reviews; best kappa was 0.540.</a:t>
            </a:r>
            <a:endParaRPr lang="en-US" sz="1300" dirty="0"/>
          </a:p>
          <a:p>
            <a:r>
              <a:rPr lang="en-US" sz="1300" dirty="0">
                <a:solidFill>
                  <a:srgbClr val="14213D"/>
                </a:solidFill>
              </a:rPr>
              <a:t>So the score is best described as aspect-consistency evaluation.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5806440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One-sentence takeaway: Member C shows that adding aspect labels gives the retriever better context for ranking game reviews.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1899A"/>
                </a:solidFill>
              </a:rPr>
              <a:t>Member C Evaluation | 6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Game Review 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Member C - Retrieval Evaluation</dc:title>
  <dc:subject>Member C Evaluation Metrics</dc:subject>
  <dc:creator>Game Review IR Team</dc:creator>
  <cp:lastModifiedBy>Game Review IR Team</cp:lastModifiedBy>
  <cp:revision>1</cp:revision>
  <dcterms:created xsi:type="dcterms:W3CDTF">2026-05-31T12:39:50Z</dcterms:created>
  <dcterms:modified xsi:type="dcterms:W3CDTF">2026-05-31T12:39:50Z</dcterms:modified>
</cp:coreProperties>
</file>